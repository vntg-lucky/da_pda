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시스템 구축</a:t>
            </a:r>
            <a:endParaRPr lang="en-US" sz="4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결과보고서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기반 모바일 PDA 시스템으로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 혁신 실현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IT팀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657600" cy="4114800"/>
          </a:xfrm>
          <a:prstGeom prst="rect">
            <a:avLst>
              <a:gd name="adj" fmla="val 3750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📱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8046720" y="3657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 Logistics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37160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및 목표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187452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196596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아키텍처 및 네트워크 구성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246888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256032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/ 백엔드 / 데이터베이스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306324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315468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00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 / 슬리팅투입 / 상차등록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71600" y="365760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0" y="374904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749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로그인, 메인, 기능별 화면 + 입력 필드 상세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71600" y="425196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71600" y="434340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4343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28600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및 옵션 기능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4360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메뉴, 화면별 옵션, 공유 컴포넌트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71600" y="484632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71600" y="493776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600" y="4937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8600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 대비 LTE 개선점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4360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방식 비교 분석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371600" y="544068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3" name="Shape 41"/>
          <p:cNvSpPr/>
          <p:nvPr/>
        </p:nvSpPr>
        <p:spPr>
          <a:xfrm>
            <a:off x="1371600" y="553212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5532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286000" y="5532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943600" y="5532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정량적 / 정성적 효과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371600" y="603504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6"/>
          <p:cNvSpPr/>
          <p:nvPr/>
        </p:nvSpPr>
        <p:spPr>
          <a:xfrm>
            <a:off x="1371600" y="612648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49" name="Text 47"/>
          <p:cNvSpPr/>
          <p:nvPr/>
        </p:nvSpPr>
        <p:spPr>
          <a:xfrm>
            <a:off x="1371600" y="6126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286000" y="6126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943600" y="6126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및 고도화 방안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프로젝트 개요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486400" cy="2377440"/>
          </a:xfrm>
          <a:prstGeom prst="rect">
            <a:avLst>
              <a:gd name="adj" fmla="val 3846"/>
            </a:avLst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기존 수기/엑셀 기반 재고 관리의 비효율성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실시간 데이터 연동 부재로 인한 재고 오차 발생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기존 AP(Wi-Fi) 방식 PDA의 통신 불안정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넓은 야적장/창고에서 Wi-Fi 사각지대 문제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스마트 물류 시스템 구축 필요성 증대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486400" cy="2377440"/>
          </a:xfrm>
          <a:prstGeom prst="rect">
            <a:avLst>
              <a:gd name="adj" fmla="val 3846"/>
            </a:avLst>
          </a:prstGeom>
          <a:solidFill>
            <a:srgbClr val="FFF3E0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목표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LTE 기반 모바일 PDA 시스템 구축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Oracle ERP 연동 실시간 재고/물류 관리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바코드 스캔 기반 정확한 데이터 수집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적재위치 / 슬리팅투입 / 상차 업무 전산화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현장 작업자 편의성 극대화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1247120" cy="2377440"/>
          </a:xfrm>
          <a:prstGeom prst="rect">
            <a:avLst>
              <a:gd name="adj" fmla="val 3846"/>
            </a:avLst>
          </a:prstGeom>
          <a:solidFill>
            <a:srgbClr val="E8F5E9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범위 및 추진 기간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480560"/>
          <a:ext cx="10515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503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 PDA (동아스틸 PDA 시스템)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업무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적재위치관리, 슬리팅 투입, 상차등록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대상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작업자 (창고/야적장/생산라인)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접속 방식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모바일 + 웹앱 (APK 배포)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접속 주소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http://pda.dongasteel.co.kr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시스템 구성도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286000" cy="2011680"/>
          </a:xfrm>
          <a:prstGeom prst="roundRect">
            <a:avLst>
              <a:gd name="adj" fmla="val 6818"/>
            </a:avLst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📱 PDA / 모바일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바코드 스캔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데이터 조회/입력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APK 앱 또는 브라우저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LTE 통신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LTE  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FFF8E1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 프론트엔드 서버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React + TypeScript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Vite 빌드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Port: 3000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API 프록시 → 6000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/api  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E8F5E9"/>
          </a:solidFill>
          <a:ln w="19050">
            <a:solidFill>
              <a:srgbClr val="2D9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 백엔드 서버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Node.js + Express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TypeScript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Port: 6000 (운영)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RESTful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392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 oracledb  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411480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CE4E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🗄️ Oracle Database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6177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DAERP (172.17.1.56:1521)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Stored Procedures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- SP_PDA_LOAD_SCAN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- SP_PDA_PICKING_SEL / SAVE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- SP_PDA_PR09080_RET / 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148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F3E5F5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 Nginx (리버스 프록시)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Port 80 → 3000 프록시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pda.dongasteel.co.kr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SSL 대응 가능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41148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E0F7F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📧 이메일 서비스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Nodemailer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작업 결과 자동 발송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수신자: DB에서 관리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기술 스택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React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UI 프레임워크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TypeScript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 안전성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Vite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도구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React Router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6.20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페이지 라우팅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Axios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 통신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Capacitor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APK 변환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297680" y="128016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E8F5E9"/>
          </a:solidFill>
          <a:ln w="19050">
            <a:solidFill>
              <a:srgbClr val="2D936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92024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Node.js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런타임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Express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4.18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 API 서버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TypeScript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 안전성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oracledb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DB 연동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Nodemailer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이메일 발송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dotenv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환경변수 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8229600" y="128016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FFF3E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Infra / Database</a:t>
            </a:r>
            <a:endParaRPr lang="en-US" sz="18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920240"/>
          <a:ext cx="3291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Database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(DAERP)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 Server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 (리버스 프록시)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서버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61.107.76.23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도메인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pda.dongasteel.co.kr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/ Wi-Fi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APK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Capacitor + Android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365760" y="5029200"/>
            <a:ext cx="11430000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기술 특징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4406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웹앱 기반으로 별도 설치 불필요 (APK도 제공)    ✔ Oracle Stored Procedure 직접 호출로 ERP 실시간 연동    ✔ 바코드 스캐너 하드웨어 연동 (inputmode='none')    ✔ 사운드/진동 피드백으로 현장 UX 최적화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주요 기능 ① 적재위치관리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적재대에 보관된 코일/자재의 위치를 바코드 스캔으로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등록·관리하는 기능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적재대구분 선택 (SF_GET_PDA_WK)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적재대번호 선택 (SF_GET_PDA_WK_DTL)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바코드 스캔으로 자재 정보 자동 입력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BATCH, 재질, 수량, 길이, 주문번호 표시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Oracle SP 호출로 실시간 저장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이메일 자동 발송 (작업 결과 공유)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스캔 이력 대시보드 (성공/오류 통계)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486400" cy="5029200"/>
          </a:xfrm>
          <a:prstGeom prst="roundRect">
            <a:avLst>
              <a:gd name="adj" fmla="val 2727"/>
            </a:avLst>
          </a:prstGeom>
          <a:solidFill>
            <a:srgbClr val="FFF8E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프로세스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20116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1. 적재대 구분/번호 선택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28346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834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2. 바코드 스캔 (자재)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7B9D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6576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D936C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657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3. 스캔 데이터 목록 확인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936C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448056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18F0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4. 저장 (SP_PDA_LOAD_SCAN)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983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53035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5303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5. 결과 이메일 발송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/api/location/save-scan-data (POST)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주요 기능 ② 슬리팅 투입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Slitting Input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공정에 투입되는 코일의 BATCH 번호를 스캔하여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 실적을 등록하는 기능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작업일자, 근무조(주/야) 선택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공정 선택 (SF_GET_PRO_LIST)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작업장(설비) 선택 (SF_GET_WC_LIST)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기존 투입 데이터 불러오기 (SP_PDA_PR09080_RET)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바코드 스캔으로 BATCH 추가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투입 순서 자동 부여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Oracle SP로 실적 저장 (SP_PDA_PR09080_IN)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486400" cy="5029200"/>
          </a:xfrm>
          <a:prstGeom prst="roundRect">
            <a:avLst>
              <a:gd name="adj" fmla="val 2727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프로세스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20116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1. 일자 / 근무조 / 공정 / 설비 선택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28346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834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2. 기존 데이터 불러오기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7B9D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6576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D936C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657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3. 바코드 스캔 (BATCH)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936C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448056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18F0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4. 투입 목록 확인 및 수정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983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53035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5303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5. 저장 (SP_PDA_PR09080_IN)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/api/slitting/save-slitting-data (POST)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주요 기능 ③ 상차등록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Loading Registration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상차지시서 기반으로 출하 물품을 바코드 스캔하여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피킹(Picking) 확인 및 상차 실적을 등록하는 기능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상차지시번호 입력 및 조회 (SP_PDA_PICKING_SEL)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피킹 목록 자동 로드 (품목, 수량, 차량번호)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바코드 스캔으로 출하 물품 확인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수량 변경 및 차량번호 입력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임시저장 / 최종저장 분리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Oracle SP로 상차 실적 저장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스캔 성공/실패 사운드·진동 피드백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486400" cy="5029200"/>
          </a:xfrm>
          <a:prstGeom prst="roundRect">
            <a:avLst>
              <a:gd name="adj" fmla="val 2727"/>
            </a:avLst>
          </a:prstGeom>
          <a:solidFill>
            <a:srgbClr val="FCE4E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프로세스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20116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1. 상차지시번호 입력 → 조회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28346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834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2. 피킹 목록 확인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7B9D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6576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D936C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657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3. 바코드 스캔 (출하 물품)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936C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448056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18F0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4. 수량/차량번호 확인·수정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983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53035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5303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5. 임시저장 또는 최종저장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/api/loading/picking-save (POST)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화면 구성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Layout - Login &amp; Main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9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103120"/>
            <a:ext cx="3657600" cy="3474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320040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374904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429768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480060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종료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37160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417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210312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 메인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9520" y="27432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 적재위치관리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89520" y="36576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2D936C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3657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 슬리팅 투입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89520" y="45720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4572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🚛  상차등록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5486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다크모드 / 화면잠금 / 글꼴크기 / 서버상태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화면 구성 (계속)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Layout - Feature Screens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10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적재대구분 드롭다운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적재대번호 드롭다운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바코드 스캔 입력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스캔 데이터 테이블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저장 / 초기화 버튼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스캔 이력 대시보드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128016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2D936C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2D936C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80560" y="21031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작업일자 선택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27432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근무조 (주/야) 선택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338328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공정 / 작업장 선택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402336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불러오기 버튼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46634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BATCH 스캔 입력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80560" y="53035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투입 목록 테이블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38160" y="128016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F18F01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3816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F18F01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12480" y="21031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상차지시번호 입력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27432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조회 버튼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12480" y="338328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피킹 목록 테이블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12480" y="402336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바코드 스캔 확인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12480" y="46634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차량번호 / 수량 수정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12480" y="53035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임시저장 / 최종저장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적재위치관리 화면 상세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Management - Screen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11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필드 상세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FFDE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적재대스캔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[text + Enter]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212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QR코드 "구분코드-번호코드" 형식 스캔 시 적재대구분·번호 자동 선택. 엔터 키로 처리.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적재대구분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[select (Oracle)]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SF_GET_PDA_WK 연동 드롭다운. 구분 변경 시 적재대번호 자동 초기화.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FFDE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적재대번호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[select (종속)]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767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SF_GET_PDA_WK_DTL 연동 드롭다운. 적재대구분에 종속. 선택 시 바코드 입력란 자동 포커스.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[text + 📷]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4544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inputmode='none' 기본 → 하드웨어 스캐너 전용. 📷 버튼 터치 시 소프트 키보드 전환 가능.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FFDE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CNT / 본수합계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[readonly]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53218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스캔된 행 수(CNT)와 본수(수량) 합계를 자동 계산하여 표시. 수정 불가(readonly).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8064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806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/ 본수변경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5806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[radio + text]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6099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라디오 버튼 2개. '본수변경' 선택 시 수동 본수 입력란 활성화 → 바코드 본수 오버라이드.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테이블 컬럼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 시점 자동 기록 (YYYY-MM-DD)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 시점 자동 기록 (HH:MM:SS)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배치번호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1번째 파트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자재코드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2번째 파트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6번째 파트 (선택)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3번째 파트 (또는 수동 입력)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수주번호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4번째 파트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5번째 파트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적재대구분/번호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선택된 드롭다운 라벨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649224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형식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492240" y="4846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배치번호-자재코드-본수-수주번호-행번[-길이]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(5파트 또는 6파트, '-' 구분)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92240" y="5394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버튼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92240" y="56692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저장: SP_PDA_LOAD_SCAN 호출, 건별 O_OUT_YN/O_OUT_MSG 반환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삭제: 선택된 행 제거 (저장 전 PDA 로컬)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입력: 바코드 수동 처리 (엔터 대용)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슬리팅 투입 화면 상세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Slitting Input - Screen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12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필드 상세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 + 조회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[date + button]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212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date picker 기본값은 오늘 날짜. '조회' 버튼 클릭 시 SP_PDA_PR09080_RET 호출 → 기존 투입 데이터를 테이블에 로드.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[select (Oracle)]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SF_GET_PRO_LIST 연동 드롭다운. 공정 변경 시 작업장 자동 초기화·재조회.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74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[select (종속)]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767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SF_GET_WC_LIST 연동 드롭다운. 선택한 공정에 종속. 공정 미선택 시 비활성.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51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근무조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[select (Oracle)]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4544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연동 드롭다운 (주간/야간 등). 조회·저장 시 필수 파라미터.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29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[text + 📷]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53218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"배치번호-품목코드" 형식 스캔 (예: HR06582801-DS100006). 공정+작업장+근무조 모두 선택 시 자동 포커스.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8064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806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포커스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03120" y="5806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[자동]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6099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공정·작업장·근무조 3개 모두 선택 완료 시 바코드 입력란으로 자동 포커스 이동 (현장 편의).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테이블 컬럼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투입 순서 자동 부여 (1, 2, 3…)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'-' 기준 첫 번째 파트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품목코드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'-' 기준 나머지 파트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스캔일자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 시점 자동 기록 (YYYY-MM-DD)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 시점 자동 기록 (HH:MM:SS)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649224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기능 (불러오기)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492240" y="40233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'조회' 버튼 → SP_PDA_PR09080_RET 호출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파라미터: 사업장(1), 일자, 근무조, 작업장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이미 등록된 투입 데이터를 테이블에 표시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추가 스캔 → 기존 목록에 이어서 추가 가능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9224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버튼 및 검증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92240" y="53949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저장: SP_PDA_PR09080_IN 호출, 전체 행 일괄 저장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삭제: 선택된 행 제거 (저장 전 PDA 로컬)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중복 배치번호 입력 시 오류 표시 + 효과음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상차등록 화면 상세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Loading Registration - Screen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13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필드 상세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[date]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1305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date picker 기본값 오늘. 저장 시 P_SCAN_DATE 파라미터로 전달.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 (7자리)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[text (auto)]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8163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지시번호 숫자 7자리 입력. 7자 도달 시 자동조회 또는 엔터 키로 SP_PDA_PICKING_SEL 호출 → 피킹 목록 테이블 자동 로드.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/ 네임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[text]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5021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 조회 결과에서 CAR_NO 자동 표시. 네임(기사명)은 수동 입력 가능.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/ 피킹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[readonly]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41879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계획: 품목코드+길이 그룹별 지시수 합계 (자동). 피킹: 배치가 있는 행의 배치수 합계 (자동). 모두 readonly.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(6파트)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[text + 📷]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48737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"배치-품목코드-수량-수주번호-수주행번-길이" 형식. 품목코드+길이 매칭 행에 자동 배치 채움.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5303520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303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/ 수량변경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5303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[radio + text]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55595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라디오 2개. '수량변경' 선택 시 수동 수량 입력 → 바코드의 수량을 오버라이드하여 피킹수에 반영.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5394960" cy="612648"/>
          </a:xfrm>
          <a:prstGeom prst="roundRect">
            <a:avLst>
              <a:gd name="adj" fmla="val 8955"/>
            </a:avLst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989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0" y="5989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[readonly]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" y="62453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배치가 채워진 행 수 자동 계산 (readonly). 스캔 진행 상황 파악용.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테이블 컬럼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83080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 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품목코드+길이 그룹의 피킹수 합계 = 지시수 시 자동 체크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 순서 자동 부여 (삽입·삭제 시 재계산)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품목코드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 조회 결과 ITEM_CODE (저장용)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 조회 결과 ITEM_NAME (표시용)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 조회 결과 LEN (품목 매칭 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 조회 결과 QTY (해당 품목+길이 계획량)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스캔 시 자동 입력 (BATCH_NO)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피킹수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3번째 파트 또는 수량변경 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다발수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 조회 결과 BD_QTY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64922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완료 체크 로직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92240" y="45720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품목코드+길이 그룹의 피킹수(배치가 있는 행) 합계가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그룹의 지시수와 같으면 ✔ 자동 체크 → 초과 스캔 차단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49224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버튼 (3종)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92240" y="54406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45" name="Text 42"/>
          <p:cNvSpPr/>
          <p:nvPr/>
        </p:nvSpPr>
        <p:spPr>
          <a:xfrm>
            <a:off x="6492240" y="5440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저장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80960" y="5440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endYn='Y' → 수정 불가. 계획=피킹 일치 필수. 확인 다이얼로그.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492240" y="576072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48" name="Text 45"/>
          <p:cNvSpPr/>
          <p:nvPr/>
        </p:nvSpPr>
        <p:spPr>
          <a:xfrm>
            <a:off x="6492240" y="5760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저장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680960" y="5760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endYn='N' → 이후 추가 스캔·수정 가능. 수량 불일치 허용.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492240" y="608076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666666"/>
          </a:solidFill>
          <a:ln/>
        </p:spPr>
      </p:sp>
      <p:sp>
        <p:nvSpPr>
          <p:cNvPr id="51" name="Text 48"/>
          <p:cNvSpPr/>
          <p:nvPr/>
        </p:nvSpPr>
        <p:spPr>
          <a:xfrm>
            <a:off x="6492240" y="6080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680960" y="60807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행 제거. 형제 행 있으면 행 자체 삭제, 없으면 배치만 초기화.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메인 화면 상세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Menu - Cards &amp; Options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14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카드 구성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560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관리 시스템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카드 (3개, 드래그 순서 변경 가능)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383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 관리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⋮⋮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06908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343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 처리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⋮⋮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75488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5029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 등록 처리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⋮⋮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486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⋮⋮ 드래그 핸들을 터치하여 카드 순서 변경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(localStorage에 순서 저장 → 재접속 시 유지)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28016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 기능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1828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아이디 / 비밀번호 입력 → 인증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2194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마지막 로그인 ID 자동 기억 (localStorage)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2560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프로그램 종료 시 캐시 삭제 + 앱 종료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2926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종료 후 '다시 시작' 버튼으로 재접속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3749040"/>
            <a:ext cx="5669280" cy="2468880"/>
          </a:xfrm>
          <a:prstGeom prst="roundRect">
            <a:avLst>
              <a:gd name="adj" fmla="val 5556"/>
            </a:avLst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 특징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9224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3개 업무 기능을 카드 형태로 직관적 배치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46451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카드 드래그&amp;드롭으로 순서 커스터마이징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499262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☰ 햄버거 메뉴로 7가지 옵션 설정 접근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53400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로그아웃 버튼으로 안전한 세션 종료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56875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옵션 드롭다운 열 때 서버 상태 자동 확인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메인 화면 옵션 기능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Menu - Options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15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☰ 메인 화면 옵션 메뉴 (7개 항목)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1161288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02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1709928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709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어두운 환경(야간 작업) 대응. 눈 피로 감소.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앱에 즉시 적용, localStorage 저장.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1161288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860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286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꺼짐 방지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395728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395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0" y="22860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Wake Lock API로 PDA 화면 자동 꺼짐 방지.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대기 중 화면 유지.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1161288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718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 크기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3081528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081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 / 중 / 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29718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앱 글꼴 크기 3단계 조절.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작업자 시인성 확보.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1161288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576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상태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3767328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3767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표시 + 새로고침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36576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백엔드(/api/health) 연결 상태 실시간 확인.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연결됨 / ● 연결 안됨 / 확인 중 표시.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343400"/>
            <a:ext cx="11612880" cy="594360"/>
          </a:xfrm>
          <a:prstGeom prst="roundRect">
            <a:avLst>
              <a:gd name="adj" fmla="val 12308"/>
            </a:avLst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434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4343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입력 딜레이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4453128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4453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짧게(50ms) / 보통(100ms) / 길게(200ms)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5040" y="43434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스캐너 입력 속도에 맞춰 지연 조절.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스캐너 기종별 최적값 설정 가능.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5029200"/>
            <a:ext cx="11612880" cy="594360"/>
          </a:xfrm>
          <a:prstGeom prst="roundRect">
            <a:avLst>
              <a:gd name="adj" fmla="val 12308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0292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5840" y="5029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이력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926080" y="5138928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5138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모달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50292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스캔 이력 + 오늘 성공/실패 통계.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페이지별 필터, 성공률 도넛 차트.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5715000"/>
            <a:ext cx="1161288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7150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05840" y="5715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이력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926080" y="5824728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5824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모달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35040" y="57150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저장 이력 목록 (오늘/전체).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페이지별 필터, 날짜/시간/바코드 표시.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기능 화면 공통 옵션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Screens - Common Options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16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 / 슬리팅 투입 / 상차등록 공통 옵션 메뉴 (9개 항목)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11612880" cy="475488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002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69164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691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0" y="160020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전체 다크/라이트 테마 전환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11612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488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1488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전달용 (Oracle Ref)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224028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22402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0" y="214884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SP 호출 파라미터/결과를 화면에 표시 (디버깅·관리용)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11612880" cy="475488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6974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6974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전달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278892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27889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40480" y="26974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시 SP 파라미터·결과를 지정 수신자에게 자동 이메일 발송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246120"/>
            <a:ext cx="11612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24612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2461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꺼짐 방지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51760" y="333756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2651760" y="33375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0480" y="32461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Wake Lock으로 PDA 화면 자동 꺼짐 방지 (스캔 대기 시)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794760"/>
            <a:ext cx="11612880" cy="475488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7947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379476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 크기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51760" y="388620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2651760" y="38862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소/중/대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40480" y="379476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전체 글꼴 크기 3단계 조절 (현장 시인성 확보)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343400"/>
            <a:ext cx="11612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3434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🔊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43434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효과음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51760" y="443484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2651760" y="44348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40480" y="434340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성공/실패 시 효과음 재생 (AudioContext)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892040"/>
            <a:ext cx="11612880" cy="475488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8920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📳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4400" y="48920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진동 피드백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651760" y="498348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2651760" y="49834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40480" y="489204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성공/실패 시 PDA 진동 피드백 (Vibration API)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5440680"/>
            <a:ext cx="11612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54406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4400" y="54406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이력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651760" y="553212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2651760" y="55321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840480" y="54406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성공/오류 통계, 페이지별 필터, 성공률 차트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5989320"/>
            <a:ext cx="11612880" cy="475488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598932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14400" y="59893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이력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651760" y="608076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61" name="Text 59"/>
          <p:cNvSpPr/>
          <p:nvPr/>
        </p:nvSpPr>
        <p:spPr>
          <a:xfrm>
            <a:off x="2651760" y="60807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모달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840480" y="59893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저장 이력 조회 (오늘/전체, 페이지별 필터)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74320" y="5897880"/>
            <a:ext cx="1161288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58978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 전용: 서버 상태 확인, 바코드 입력 딜레이  |  기능 화면 전용: 전달용(Oracle Ref), 이메일 전달, 스캔 효과음, 진동 피드백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공유 컴포넌트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Shared Components - Dashboard &amp; History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17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스캔 이력 대시보드 (ScanDashboard)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스캔 통계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22860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22860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93192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286000"/>
            <a:ext cx="109728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D93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468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오늘의 스캔 통계 (전체/성공/오류 건수)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0507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성공률 도넛 차트 (90%↑ 초록, 70%↑ 노랑)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39826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페이지별 필터 (상차/적재/슬리팅/전체)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74573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결과 필터 (전체/성공/오류)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50932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스캔 이력 목록 (최근 100건, 시간순)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440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이력 전체 삭제 기능 (확인 다이얼로그)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7881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최대 500건 localStorage 보관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저장 이력 모달 (SaveHistoryModal)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0" y="201168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 |  전체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  적재  슬리팅  전체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0" y="2560320"/>
            <a:ext cx="5029200" cy="411480"/>
          </a:xfrm>
          <a:prstGeom prst="roundRect">
            <a:avLst>
              <a:gd name="adj" fmla="val 8889"/>
            </a:avLst>
          </a:prstGeom>
          <a:solidFill>
            <a:srgbClr val="F8FAF8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2560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14:23:15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263347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26334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8680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B2024031500123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3063240"/>
            <a:ext cx="50292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3063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14:20:42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80960" y="313639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0" y="3136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68680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C2024031500456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83680" y="3566160"/>
            <a:ext cx="5029200" cy="411480"/>
          </a:xfrm>
          <a:prstGeom prst="roundRect">
            <a:avLst>
              <a:gd name="adj" fmla="val 8889"/>
            </a:avLst>
          </a:prstGeom>
          <a:solidFill>
            <a:srgbClr val="F8FAF8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35661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14:18:09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680960" y="363931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7680960" y="3639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68680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S2024031500789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00800" y="45262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성공 저장 이력만 필터링하여 표시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0" y="48463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오늘 / 전체 날짜 필터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51663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페이지별 필터 (상차/적재/슬리팅)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0" y="54864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저장 시각, 페이지, 바코드 표시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0" y="5806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색상 태그로 페이지 구분 (파랑/주황/초록)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0" y="61264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메인 + 모든 기능 화면에서 접근 가능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일반 AP(Wi-Fi) 대비 LTE 개선점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 vs LTE Comparison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18 / 22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AP(Wi-Fi)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방식 (개선)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효과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커버리지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반경 30~50m 제한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사각지대 다수 발생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LTE망 활용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커버리지 제한 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야적장/야외 100%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가능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안정성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간섭, 핸드오버 끊김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동시접속 시 속도 저하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 LTE 채널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안정적 통신 유지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끊김 없는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 데이터 전송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인프라 비용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장비 구매 + 설치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LAN 배선 공사 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유심만 장착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 인프라 불필요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구축비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80% 이상 절감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유지보수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장비 고장/교체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정기적 관리 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망 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유지보수 최소화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유지보수 비용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대폭 절감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추가 설치 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배선 공사 동반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유심 추가만으로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확장 가능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증설 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대응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Wi-Fi 해킹 위험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공용 네트워크 우려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전용망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높은 보안 수준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보안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이동성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범위 내에서만 사용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건물 간 이동 시 끊김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자유로운 이동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건물/야적장 무관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동선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 해소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6126480"/>
            <a:ext cx="11612880" cy="36576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LTE 방식은 Wi-Fi AP 대비 통신 안정성, 커버리지, 비용, 확장성 모든 면에서 우수하며, 특히 넓은 야적장과 야외 작업 환경에 최적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LTE 전환 효과 상세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Migration Benefits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19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FFF0F0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AP(Wi-Fi) 방식의 문제점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야적장/야외 Wi-Fi 사각지대 → 데이터 미전송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AP 간 핸드오버 시 연결 끊김 빈번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AP 장비 고장 시 해당 구역 전체 마비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비/눈 등 기상 조건에 AP 성능 저하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AP 추가 시 배선 공사 필요 (높은 비용)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동시 접속 디바이스 증가 시 속도 급감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Wi-Fi 보안 취약점 (공유키 유출 위험)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F0FA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방식의 개선 효과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전국 어디서나 통신 가능 (사각지대 제로)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끊김 없는 안정적 데이터 전송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017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단말기 하나로 독립 운영 (AP 의존 제거)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기상 조건에 영향 없는 통신 품질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유심 교체만으로 즉시 확장 가능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4526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대역폭 보장, 동시접속 영향 최소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5029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통신사 보안 인프라 활용 (보안 강화)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5623560"/>
            <a:ext cx="1161288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비용 비교:  AP 방식 (AP 장비 5대 기준) 약 500~800만원 + 연간 유지비 100만원  vs  LTE 방식 유심비 월 1~2만원/대, 초기비용 거의 없음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기대효과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Expected Benefits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20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E3F2FD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정량적 기대효과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정확도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0574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85~90%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20574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99% 이상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입력 시간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7889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3~5분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7764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89120" y="27889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10~20초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오입력률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352044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3520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7764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89120" y="352044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3520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0.1% 미만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🚛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4206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 확인 시간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68880" y="425196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4251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30분/건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77640" y="42062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389120" y="425196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4251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5분/건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937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4400" y="4937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장애 횟수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68880" y="4983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41" name="Text 39"/>
          <p:cNvSpPr/>
          <p:nvPr/>
        </p:nvSpPr>
        <p:spPr>
          <a:xfrm>
            <a:off x="2468880" y="4983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10~20회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77640" y="4937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389120" y="4983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4983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0~1회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5669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4400" y="5669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유지비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5715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48" name="Text 46"/>
          <p:cNvSpPr/>
          <p:nvPr/>
        </p:nvSpPr>
        <p:spPr>
          <a:xfrm>
            <a:off x="2468880" y="5715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100만원+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56692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389120" y="5715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51" name="Text 49"/>
          <p:cNvSpPr/>
          <p:nvPr/>
        </p:nvSpPr>
        <p:spPr>
          <a:xfrm>
            <a:off x="4389120" y="5715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20만원 이하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128016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FFF8E1"/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정성적 기대효과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400800" y="20116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3E0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업무 효율화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29600" y="2011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기반 자동화로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작업 제거, 업무 속도 향상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0" y="26974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0" y="2697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데이터 연동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229600" y="2697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ERP(Oracle) 실시간 연동으로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지연 없는 의사결정 지원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00800" y="33832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3E0"/>
          </a:solidFill>
          <a:ln/>
        </p:spPr>
      </p:sp>
      <p:sp>
        <p:nvSpPr>
          <p:cNvPr id="61" name="Text 59"/>
          <p:cNvSpPr/>
          <p:nvPr/>
        </p:nvSpPr>
        <p:spPr>
          <a:xfrm>
            <a:off x="6583680" y="33832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 편의성 향상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229600" y="33832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사운드/진동 피드백, 다크모드,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 크기 조절 등 현장 최적화 UX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00800" y="40690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6583680" y="4069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통신 안정성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229600" y="40690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야적장·야외 어디서나 끊김 없는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통신으로 작업 연속성 보장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00800" y="47548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3E0"/>
          </a:solidFill>
          <a:ln/>
        </p:spPr>
      </p:sp>
      <p:sp>
        <p:nvSpPr>
          <p:cNvPr id="67" name="Text 65"/>
          <p:cNvSpPr/>
          <p:nvPr/>
        </p:nvSpPr>
        <p:spPr>
          <a:xfrm>
            <a:off x="6583680" y="4754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비용 절감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229600" y="4754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 장비/배선 불필요, LTE 유심만으로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운영하여 인프라 비용 대폭 절감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400800" y="54406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6583680" y="5440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용이성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229600" y="5440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기능/설비 추가 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 업데이트만으로 즉시 배포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향후 계획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Future Plans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21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E8F5E9"/>
          </a:solidFill>
          <a:ln w="25400">
            <a:solidFill>
              <a:srgbClr val="2D93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2D936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(완료)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적재위치관리 기능 구현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슬리팅 투입 기능 구현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상차등록 기능 구현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Oracle ERP 연동 완료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LTE 기반 모바일 웹앱 배포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128016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E3F2FD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(계획)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입고 검수 기능 추가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출하 관리 기능 확장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재고 실사 기능 개발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대시보드/통계 화면 추가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Push 알림 기능 구현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28016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3E0"/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F18F01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(구상)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AI 기반 재고 예측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IoT 센서 연동 (온도/습도)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RFID 태그 스캔 지원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타 사업장 확대 적용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실시간 모니터링 대시보드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5577840"/>
            <a:ext cx="11612880" cy="777240"/>
          </a:xfrm>
          <a:prstGeom prst="roundRect">
            <a:avLst>
              <a:gd name="adj" fmla="val 1176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6235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시스템을 통해 동아스틸의 스마트 물류 혁신을 실현하고, 지속적인 기능 확장으로 디지털 전환을 가속화하겠습니다.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개발 — Cursor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AI-Powered Development with Cursor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22 / 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3749040" cy="2560320"/>
          </a:xfrm>
          <a:prstGeom prst="roundRect">
            <a:avLst>
              <a:gd name="adj" fmla="val 5357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 개발 도구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 IDE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코딩 어시스턴트가 내장된 차세대 IDE.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생성·리팩토링·디버깅·문서화를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대화형으로 수행하여 개발 효율 극대화.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전 과정을 Cursor AI로 개발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3749040" cy="233172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 AI 활용 영역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React + TypeScript 프론트엔드 전체 코드 생성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681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Node.js + Express 백엔드 API 설계·구현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9743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Oracle SP 연동 로직 자동 생성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52669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CSS 스타일링 및 반응형 레이아웃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5559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바코드 스캐너 연동 로직 구현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5852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PPT 결과보고서 자동 생성 스크립트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123444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2D93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1280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  생산성 향상 효과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178308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2D936C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17830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3~5배 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17830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속도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19659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코드·보일러플레이트 자동 생성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89120" y="228600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2D936C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22860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 ↑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2286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품질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2468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 프랙티스 기반 코드 제안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89120" y="278892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2D936C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0" y="27889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 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27889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디버깅 시간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29718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원인 분석 및 수정안 즉시 제안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89120" y="329184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2D936C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3291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 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문서화 비용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34747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주석·보고서·README 자동 생성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06240" y="4114800"/>
            <a:ext cx="3840480" cy="2148840"/>
          </a:xfrm>
          <a:prstGeom prst="roundRect">
            <a:avLst>
              <a:gd name="adj" fmla="val 6383"/>
            </a:avLst>
          </a:prstGeom>
          <a:solidFill>
            <a:srgbClr val="FFF8E1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4160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AI 개발의 장점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389120" y="4572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소규모 IT팀으로도 대규모 프로젝트 수행 가능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89120" y="4882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프로토타입 → 운영 시스템 전환 기간 대폭 단축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8912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최신 기술 스택 즉시 적용 (React, TS, Vite…)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389120" y="5504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반복적 코딩 작업 자동화로 핵심 로직에 집중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389120" y="5815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개발자 역량과 무관하게 균일한 코드 품질 확보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29600" y="123444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🚀  유발 가능한 효과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412480" y="187452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03920" y="1947672"/>
            <a:ext cx="73152" cy="5943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8732520" y="1892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내재화 가속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732520" y="21671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의존도 감소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개발·유지보수 역량 확보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412480" y="274320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03920" y="2816352"/>
            <a:ext cx="73152" cy="594360"/>
          </a:xfrm>
          <a:prstGeom prst="roundRect">
            <a:avLst>
              <a:gd name="adj" fmla="val 50000"/>
            </a:avLst>
          </a:prstGeom>
          <a:solidFill>
            <a:srgbClr val="2D936C"/>
          </a:solidFill>
          <a:ln/>
        </p:spPr>
      </p:sp>
      <p:sp>
        <p:nvSpPr>
          <p:cNvPr id="55" name="Text 53"/>
          <p:cNvSpPr/>
          <p:nvPr/>
        </p:nvSpPr>
        <p:spPr>
          <a:xfrm>
            <a:off x="8732520" y="2761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절감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732520" y="30358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개발비 50~70% 절감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인건비 대비 높은 생산성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412480" y="36118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03920" y="3685032"/>
            <a:ext cx="73152" cy="594360"/>
          </a:xfrm>
          <a:prstGeom prst="roundRect">
            <a:avLst>
              <a:gd name="adj" fmla="val 50000"/>
            </a:avLst>
          </a:prstGeom>
          <a:solidFill>
            <a:srgbClr val="F18F01"/>
          </a:solidFill>
          <a:ln/>
        </p:spPr>
      </p:sp>
      <p:sp>
        <p:nvSpPr>
          <p:cNvPr id="59" name="Text 57"/>
          <p:cNvSpPr/>
          <p:nvPr/>
        </p:nvSpPr>
        <p:spPr>
          <a:xfrm>
            <a:off x="8732520" y="3630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현장 대응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732520" y="390448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요구사항 즉시 반영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추가·수정 당일 배포 가능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412480" y="448056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03920" y="4553712"/>
            <a:ext cx="73152" cy="5943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3" name="Text 61"/>
          <p:cNvSpPr/>
          <p:nvPr/>
        </p:nvSpPr>
        <p:spPr>
          <a:xfrm>
            <a:off x="8732520" y="44988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전환 촉진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732520" y="47731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도구 활용 경험 축적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업무 시스템 확대 적용 기반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412480" y="534924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03920" y="5422392"/>
            <a:ext cx="73152" cy="5943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67" name="Text 65"/>
          <p:cNvSpPr/>
          <p:nvPr/>
        </p:nvSpPr>
        <p:spPr>
          <a:xfrm>
            <a:off x="8732520" y="53675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경쟁력 강화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732520" y="56418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 + AI 활용 = 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팩토리 선도 기업으로 도약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동아스틸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동아스틸 PDA 시스템 구축 결과보고서</dc:title>
  <dc:subject>DA PDA 시스템 결과보고서</dc:subject>
  <dc:creator>동아스틸 IT팀</dc:creator>
  <cp:lastModifiedBy>동아스틸 IT팀</cp:lastModifiedBy>
  <cp:revision>1</cp:revision>
  <dcterms:created xsi:type="dcterms:W3CDTF">2026-03-16T08:02:51Z</dcterms:created>
  <dcterms:modified xsi:type="dcterms:W3CDTF">2026-03-16T08:02:51Z</dcterms:modified>
</cp:coreProperties>
</file>