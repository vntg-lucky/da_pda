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62B47"/>
          </a:solidFill>
          <a:ln w="12700">
            <a:solidFill>
              <a:srgbClr val="162B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2C4F7A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3657600"/>
            <a:ext cx="2926080" cy="2926080"/>
          </a:xfrm>
          <a:prstGeom prst="ellipse">
            <a:avLst/>
          </a:prstGeom>
          <a:solidFill>
            <a:srgbClr val="253D5E"/>
          </a:solidFill>
          <a:ln w="12700">
            <a:solidFill>
              <a:srgbClr val="253D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PDA 물류관리 시스템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완료 보고서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64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 13일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160520"/>
            <a:ext cx="1810512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6052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41448" y="4160520"/>
            <a:ext cx="1810512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416052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9976" y="4160520"/>
            <a:ext cx="1810512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416052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상차등록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18504" y="4160520"/>
            <a:ext cx="1810512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416052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적재위치관리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57032" y="4160520"/>
            <a:ext cx="1810512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416052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슬리팅 투입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(Vite)  •  Express.js  •  Oracle DB  •  TypeScript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307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1709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· 기술 스택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2316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4963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898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프로그램 종료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84048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0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6850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087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카드 · 드래그 순서 정렬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80060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29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48737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상차등록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5276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지시번호 조회 · 피킹 · 저장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123444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9480" y="1307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적재위치관리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69480" y="1709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적재대 선택 · 바코드 스캔 · 저장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242316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83680" y="2651760"/>
            <a:ext cx="566928" cy="5669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69480" y="24963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슬리팅 투입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269480" y="2898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공정/작업장 선택 · 바코드 스캔 · 저장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361188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83680" y="384048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840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69480" y="36850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기능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69480" y="4087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 · 이메일 전달 · 전달용 패널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4800600"/>
            <a:ext cx="5577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14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83680" y="5029200"/>
            <a:ext cx="566928" cy="5669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5029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269480" y="48737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DB 연동 현황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269480" y="5276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프로시저/함수 목록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Overview · Architecture · 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1920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070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1207008"/>
            <a:ext cx="5029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2070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1682496"/>
            <a:ext cx="1920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6824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1682496"/>
            <a:ext cx="5029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682496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PDA 기기를 활용한 현장 물류(상차·적재·슬리팅) 데이터 실시간 등록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157984"/>
            <a:ext cx="1920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579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주소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2157984"/>
            <a:ext cx="5029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2157984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172.17.1.56:1521/DAERP  (Oracle DB)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633472"/>
            <a:ext cx="1920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6334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포트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31720" y="2633472"/>
            <a:ext cx="5029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633472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 백엔드 5000번 / 프론트 Vite 빌드 배포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108960"/>
            <a:ext cx="1920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089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31720" y="3108960"/>
            <a:ext cx="5029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3108960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기반 세션 유지 (하드코딩 계정)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3584448"/>
            <a:ext cx="1920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844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기기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331720" y="3584448"/>
            <a:ext cx="5029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358444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PDA 스캐너 (바코드/QR 스캔 전용 UI)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80960" y="1207008"/>
            <a:ext cx="44348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120700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162763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627632"/>
            <a:ext cx="91440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942832" y="1645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TypeScript · Vite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80960" y="213055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2130552"/>
            <a:ext cx="9144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45552" y="21488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942832" y="21488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Express.js · TypeScript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263347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0" y="2633472"/>
            <a:ext cx="91440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2651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942832" y="26517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 · oracledb (node driver)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80960" y="313639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3136392"/>
            <a:ext cx="9144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1546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942832" y="31546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Router v6 (BrowserRouter)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680960" y="363931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36393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45552" y="36576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942832" y="36576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Modules · 다크 모드 지원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680960" y="414223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0" y="4142232"/>
            <a:ext cx="91440" cy="42062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45552" y="4160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942832" y="4160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Nodemailer · SMTP 이메일 전송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680960" y="464515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80960" y="4645152"/>
            <a:ext cx="914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45552" y="46634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942832" y="46634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(설정·순서 영구 저장)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680960" y="514807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80960" y="5148072"/>
            <a:ext cx="91440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45552" y="51663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942832" y="51663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Build → Express Static 배포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11480" y="4224528"/>
            <a:ext cx="72237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" y="42245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구조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1480" y="4663440"/>
            <a:ext cx="1389888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66344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920240" y="4663440"/>
            <a:ext cx="1389888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20240" y="466344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429000" y="4663440"/>
            <a:ext cx="1389888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29000" y="466344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상차등록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937760" y="4663440"/>
            <a:ext cx="1389888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466344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적재위치관리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446520" y="4663440"/>
            <a:ext cx="1389888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66344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슬리팅 투입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801368" y="4937760"/>
            <a:ext cx="5303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82" name="Shape 80"/>
          <p:cNvSpPr/>
          <p:nvPr/>
        </p:nvSpPr>
        <p:spPr>
          <a:xfrm>
            <a:off x="3310128" y="4937760"/>
            <a:ext cx="5303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83" name="Shape 81"/>
          <p:cNvSpPr/>
          <p:nvPr/>
        </p:nvSpPr>
        <p:spPr>
          <a:xfrm>
            <a:off x="4818888" y="4937760"/>
            <a:ext cx="5303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84" name="Shape 82"/>
          <p:cNvSpPr/>
          <p:nvPr/>
        </p:nvSpPr>
        <p:spPr>
          <a:xfrm>
            <a:off x="6327648" y="4937760"/>
            <a:ext cx="5303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페이지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/login  —  인증 및 앱 진입점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Login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82496"/>
          <a:ext cx="5084064" cy="914400"/>
        </p:xfrm>
        <a:graphic>
          <a:graphicData uri="http://schemas.openxmlformats.org/drawingml/2006/table">
            <a:tbl>
              <a:tblPr/>
              <a:tblGrid>
                <a:gridCol w="50840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아이디 / 비밀번호 로그인 (dapda / 1234)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입력 아이디 자동 복원 (localStorage)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성공 → /main 자동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에러 메시지 배너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종료 버튼 → localStorage 초기화 + window.close()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후 "다시 시작" 버튼으로 재진입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11480" y="3456432"/>
            <a:ext cx="53035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3529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보존 항목 (종료 시 유지)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9624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3931920"/>
          <a:ext cx="5084064" cy="914400"/>
        </p:xfrm>
        <a:graphic>
          <a:graphicData uri="http://schemas.openxmlformats.org/drawingml/2006/table">
            <a:tbl>
              <a:tblPr/>
              <a:tblGrid>
                <a:gridCol w="50840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da_pda_last_username — 마지막 아이디 자동 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main_card_order     — 메인 메뉴 카드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darkMode            — 다크 모드 on/off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89320" y="1207008"/>
            <a:ext cx="6172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126480" y="1280160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1600200"/>
            <a:ext cx="5897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48" y="1682496"/>
          <a:ext cx="5952744" cy="914400"/>
        </p:xfrm>
        <a:graphic>
          <a:graphicData uri="http://schemas.openxmlformats.org/drawingml/2006/table">
            <a:tbl>
              <a:tblPr/>
              <a:tblGrid>
                <a:gridCol w="595274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헤더: 동아스틸 PDA / 물류 관리 시스템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아이디 입력 필드 (text, 자동 채움)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입력 필드 (password)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버튼 (type=submit)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종료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완료 화면 (캐시 삭제 안내 + 다시 시작 버튼)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5989320" y="3456432"/>
            <a:ext cx="6172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126480" y="3529584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26480" y="3849624"/>
            <a:ext cx="5897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44768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44768" y="39502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아이디/비밀번호 입력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516368" y="4187952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626096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626096" y="39502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검증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8997696" y="4187952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107424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107424" y="39502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성공: /main 이동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10479024" y="4187952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0588752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0588752" y="39502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실패: 에러 표시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144768" y="48920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144768" y="4892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버튼 클릭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7516368" y="5129784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626096" y="48920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626096" y="4892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localStorage.clear()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997696" y="5129784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07424" y="48920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107424" y="4892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 항목만 복원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10479024" y="5129784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0588752" y="48920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10588752" y="4892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window.close()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/main  —  메뉴 카드 · 드래그 순서 정렬 · 다크 모드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82496"/>
          <a:ext cx="5084064" cy="914400"/>
        </p:xfrm>
        <a:graphic>
          <a:graphicData uri="http://schemas.openxmlformats.org/drawingml/2006/table">
            <a:tbl>
              <a:tblPr/>
              <a:tblGrid>
                <a:gridCol w="50840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메뉴 카드 표시 → 각 기능 페이지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순서 드래그 정렬 (Pointer Events API)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localStorage("main_card_order") 에 저장/복원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로그아웃 → isAuthenticated 제거 → /login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다크 모드 토글 (옵션 드롭다운)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 우상단 햄버거 메뉴 (옵션)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11480" y="3675888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구현 상세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069080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4151376"/>
          <a:ext cx="5084064" cy="914400"/>
        </p:xfrm>
        <a:graphic>
          <a:graphicData uri="http://schemas.openxmlformats.org/drawingml/2006/table">
            <a:tbl>
              <a:tblPr/>
              <a:tblGrid>
                <a:gridCol w="50840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마우스/터치 통합: setPointerCapture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6px 이상 Y축 이동 시 드래그 모드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중 대상 카드에 card-drag-over 클래스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dragOverIdRef + state 이중 관리 (stale closure 방지)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유효성 검증: 배열 길이 + 포함 여부 확인 후 복원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89320" y="1207008"/>
            <a:ext cx="6172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62472" y="1207008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카드 구성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89320" y="1664208"/>
            <a:ext cx="61722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989320" y="1664208"/>
            <a:ext cx="182880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27648" y="17922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상차등록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6327648" y="2194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 등록 처리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704320" y="1920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⠿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5989320" y="2852928"/>
            <a:ext cx="61722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989320" y="2852928"/>
            <a:ext cx="18288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27648" y="29809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적재위치관리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6327648" y="3383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적재위치 관리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704320" y="31089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⠿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5989320" y="4041648"/>
            <a:ext cx="61722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989320" y="4041648"/>
            <a:ext cx="182880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327648" y="41696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슬리팅 투입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6327648" y="4572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슬리팅 투입 처리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1704320" y="42976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⠿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5989320" y="5138928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↕ 드래그 핸들로 순서 변경 가능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상차등록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/loading-registration  —  지시번호 조회 · 피킹 · 임시/최종 저장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상차등록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5212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82496"/>
          <a:ext cx="5266944" cy="914400"/>
        </p:xfrm>
        <a:graphic>
          <a:graphicData uri="http://schemas.openxmlformats.org/drawingml/2006/table">
            <a:tbl>
              <a:tblPr/>
              <a:tblGrid>
                <a:gridCol w="526694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지시번호(7자리) 입력 → SP_PDA_PICKING_SEL 자동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차량번호 CAR_NO 자동 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계획수량 자동 계산 (품목코드+길이 그룹별 합산)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바코드 스캔: 배치-품목코드-품목수-수주번호-행번-길이 (6파트)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수량변경 모드: 정상 / 수량변경 라디오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매칭: 품목코드+길이 일치 행 탐색 (배치 빈 행 우선)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배치+품목코드+길이 재스캔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완료 체크: 배치수 합계 = 지시수 시 그룹 완료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삭제: 클릭 선택 후 삭제 (형제 여부에 따라 분기)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저장 (endYn=N): 폼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저장 (endYn=Y): 계획수량 불일치 시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080760" y="1207008"/>
            <a:ext cx="60807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128016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60020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682496"/>
          <a:ext cx="5861304" cy="914400"/>
        </p:xfrm>
        <a:graphic>
          <a:graphicData uri="http://schemas.openxmlformats.org/drawingml/2006/table">
            <a:tbl>
              <a:tblPr/>
              <a:tblGrid>
                <a:gridCol w="58613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 + 지시번호(7자리 숫자, 자동 조회)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차량번호 + 네임 (수동 편집 가능)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계획수량 / 피킹수량 (읽기 전용, 자동 계산)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바코드 입력 + 라인 (읽기 전용)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/ 수량변경 라디오 + 변경수량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테이블: 완료·순번·품목코드·품목·길이·지시수·배치·피킹수·다발수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저장 / 최종 저장 / 삭제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전달용 패널 (파라미터/반환값 + 복사 버튼)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배너 / 에러 배너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11480" y="4645152"/>
            <a:ext cx="11750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" y="4645152"/>
            <a:ext cx="1165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047488"/>
          <a:ext cx="11750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Endpoint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프로시저/함수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/api/loading/picking-sel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지시번호 피킹 목록 조회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SP_PDA_PICKING_SEL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/api/loading/picking-save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임시/최종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SP_PDA_PICKING_SAVE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/api/email/send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전달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SF_GET_PDA_MAIL('A')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상차등록 — 업무 흐름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지시번호 조회 → 바코드 스캔 → 피킹 완료 → 저장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04-2 / 상차등록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지시번호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입력(7자리)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901952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SP_PDA_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PICKING_SEL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392424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목록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표시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64024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882896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바코드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373368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검사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44968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863840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완료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235440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354312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54312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임시/최종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선택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725912" y="1965960"/>
            <a:ext cx="1188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0844784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44784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SP_PDA_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PICKING_SAVE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834640"/>
            <a:ext cx="11750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2834640"/>
            <a:ext cx="1165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비즈니스 규칙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3246120"/>
            <a:ext cx="2834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지시번호 입력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3639312"/>
            <a:ext cx="2560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3721608"/>
          <a:ext cx="2615184" cy="914400"/>
        </p:xfrm>
        <a:graphic>
          <a:graphicData uri="http://schemas.openxmlformats.org/drawingml/2006/table">
            <a:tbl>
              <a:tblPr/>
              <a:tblGrid>
                <a:gridCol w="261518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숫자만 입력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7자리 완성 시 자동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7자리 초과 입력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3383280" y="3246120"/>
            <a:ext cx="2834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520440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바코드 형식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520440" y="3639312"/>
            <a:ext cx="2560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93008" y="3721608"/>
          <a:ext cx="2615184" cy="914400"/>
        </p:xfrm>
        <a:graphic>
          <a:graphicData uri="http://schemas.openxmlformats.org/drawingml/2006/table">
            <a:tbl>
              <a:tblPr/>
              <a:tblGrid>
                <a:gridCol w="261518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6파트 필수: 배치-품목코드-품목수-수주번호-수주행번-길이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 수 오류 시 입력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배치+품목+길이 중복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40"/>
          <p:cNvSpPr/>
          <p:nvPr/>
        </p:nvSpPr>
        <p:spPr>
          <a:xfrm>
            <a:off x="6355080" y="3246120"/>
            <a:ext cx="2834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6492240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로직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6492240" y="3639312"/>
            <a:ext cx="2560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08" y="3721608"/>
          <a:ext cx="2615184" cy="914400"/>
        </p:xfrm>
        <a:graphic>
          <a:graphicData uri="http://schemas.openxmlformats.org/drawingml/2006/table">
            <a:tbl>
              <a:tblPr/>
              <a:tblGrid>
                <a:gridCol w="261518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품목코드+길이 일치 행 탐색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비어있는 행 우선 할당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완료된 그룹 재스캔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hape 43"/>
          <p:cNvSpPr/>
          <p:nvPr/>
        </p:nvSpPr>
        <p:spPr>
          <a:xfrm>
            <a:off x="9326880" y="3246120"/>
            <a:ext cx="2834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9464040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분기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9464040" y="3639312"/>
            <a:ext cx="2560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36608" y="3721608"/>
          <a:ext cx="2615184" cy="914400"/>
        </p:xfrm>
        <a:graphic>
          <a:graphicData uri="http://schemas.openxmlformats.org/drawingml/2006/table">
            <a:tbl>
              <a:tblPr/>
              <a:tblGrid>
                <a:gridCol w="261518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저장 (endYn=N): 폼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저장 (endYn=Y): 계획≠피킹 시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Partial 응답: 일부 성공·일부 실패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적재위치관리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/location-management  —  적재대 선택 · 바코드 스캔 · Oracle 프로시저 저장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적재위치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5212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82496"/>
          <a:ext cx="5266944" cy="914400"/>
        </p:xfrm>
        <a:graphic>
          <a:graphicData uri="http://schemas.openxmlformats.org/drawingml/2006/table">
            <a:tbl>
              <a:tblPr/>
              <a:tblGrid>
                <a:gridCol w="526694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적재대구분 목록 조회: SF_GET_PDA_WK('PDA')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적재대번호 목록 조회: SF_GET_PDA_WK_DTL(구분코드)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 QR 스캔 → 구분/번호 자동 선택 + 포커스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바코드 형식: 배치번호-자재코드-본수-수주번호-수주행번[-길이]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배치번호+자재코드 재입력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본수변경 모드: 정상 / 본수변경 라디오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건별 저장: SP_PDA_LOAD_SCAN (행마다 개별 호출)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삭제: 선택 후 삭제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건수(cnt) / 본수합계 useEffect로 자동 재계산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전달 옵션 (저장 시 자동 발송)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080760" y="1207008"/>
            <a:ext cx="60807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128016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60020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682496"/>
          <a:ext cx="5861304" cy="914400"/>
        </p:xfrm>
        <a:graphic>
          <a:graphicData uri="http://schemas.openxmlformats.org/drawingml/2006/table">
            <a:tbl>
              <a:tblPr/>
              <a:tblGrid>
                <a:gridCol w="58613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적재대스캔 입력 (QR, 엔터로 파싱)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적재대구분 &lt;select&gt; (SF_GET_PDA_WK)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적재대번호 &lt;select&gt; (구분 선택 시 활성화)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바코드 입력 + 건수(cnt) + 본수합계 (읽기 전용)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블로커 오버레이 (모바일 키보드 방지)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/ 본수변경 라디오 + 본수 직접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테이블: 일자·시간·배치·자재코드·길이·본수·수주번호·행번·구분·번호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/ 삭제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전달용 패널 (Oracle 파라미터·결과 복사)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11480" y="4645152"/>
            <a:ext cx="11750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" y="4645152"/>
            <a:ext cx="1165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047488"/>
          <a:ext cx="11750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Endpoint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프로시저/함수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/api/location/rack-types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적재대구분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SF_GET_PDA_WK('PDA')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/api/location/rack-numbers/:rackTypeCode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적재대번호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SF_GET_PDA_WK_DTL(:rackTypeCode)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/api/location/save-scan-data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적재위치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SP_PDA_LOAD_SCAN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/api/email/send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전달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SF_GET_PDA_MAIL('A')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슬리팅 투입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/slitting-input  —  공정/작업장/근무조 선택 · 바코드 스캔 · 조회·저장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슬리팅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5212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82496"/>
          <a:ext cx="5266944" cy="914400"/>
        </p:xfrm>
        <a:graphic>
          <a:graphicData uri="http://schemas.openxmlformats.org/drawingml/2006/table">
            <a:tbl>
              <a:tblPr/>
              <a:tblGrid>
                <a:gridCol w="526694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근무조 목록 조회: SF_GET_SHIFT('01','PR09')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목록 조회: SF_GET_PRO_LIST('01')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작업장 목록 조회: SF_GET_WC_LIST('01', 공정코드)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포커스: 근무조+공정+작업장 선택 완료 시 바코드란으로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바코드 형식: 배치번호-품목코드 (엔터로 처리)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배치번호 재입력 차단 (현재 세션)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기능: SP_PDA_PR09080_RET → 기존 투입 데이터 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건별 저장: SP_PDA_PR09080_IN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삭제: 선택 후 삭제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전달 옵션 (조회 시 자동 발송)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080760" y="1207008"/>
            <a:ext cx="60807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128016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60020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682496"/>
          <a:ext cx="5861304" cy="914400"/>
        </p:xfrm>
        <a:graphic>
          <a:graphicData uri="http://schemas.openxmlformats.org/drawingml/2006/table">
            <a:tbl>
              <a:tblPr/>
              <a:tblGrid>
                <a:gridCol w="58613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 (date picker) + 조회 버튼 (같은 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&lt;select&gt; + 작업장 &lt;select&gt; (같은 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작업장: 공정 미선택 시 비활성화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근무조 &lt;select&gt; + 바코드 입력 (같은 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테이블: 순번·배치번호·품목코드·스캔일자·스캔시간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/ 삭제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버튼: 일자+근무조+공정+작업장 모두 선택 시 활성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전달용 패널 (조회 파라미터·결과 복사)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11480" y="4645152"/>
            <a:ext cx="117500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" y="4645152"/>
            <a:ext cx="1165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047488"/>
          <a:ext cx="11750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Endpoint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프로시저/함수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/api/slitting/shifts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근무조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SF_GET_SHIFT('01','PR09')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/api/slitting/process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SF_GET_PRO_LIST('01')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/api/slitting/equipment/:processCode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작업장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SF_GET_WC_LIST('01', :processCode)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/api/slitting/retrieve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투입 데이터 조회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SP_PDA_PR09080_RET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/api/slitting/save-slitting-data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데이터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SP_PDA_PR09080_IN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 · 이메일 전달 · 전달용 패널 · localStorage 관리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공통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3703320" cy="46634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80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3429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82496"/>
          <a:ext cx="3483864" cy="914400"/>
        </p:xfrm>
        <a:graphic>
          <a:graphicData uri="http://schemas.openxmlformats.org/drawingml/2006/table">
            <a:tbl>
              <a:tblPr/>
              <a:tblGrid>
                <a:gridCol w="34838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페이지 공통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localStorage("darkMode")에 저장/복원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 드롭다운 토글 스위치로 제어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document.documentElement에 dark 클래스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CSS 변수 기반으로 색상 일괄 전환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251960" y="1207008"/>
            <a:ext cx="3703320" cy="46634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389120" y="1280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전달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89120" y="1600200"/>
            <a:ext cx="3429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61688" y="1682496"/>
          <a:ext cx="3483864" cy="914400"/>
        </p:xfrm>
        <a:graphic>
          <a:graphicData uri="http://schemas.openxmlformats.org/drawingml/2006/table">
            <a:tbl>
              <a:tblPr/>
              <a:tblGrid>
                <a:gridCol w="34838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페이지(상차·적재·슬리팅) 공통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pda_email_forward 키로 on/off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SF_GET_PDA_MAIL("A") → 수신자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Nodemailer SMTP로 발송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번째 수신자가 발신자로도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 + 텍스트 혼합 본문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 / 반환값 섹션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없으면 anonymous 발송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8092440" y="1207008"/>
            <a:ext cx="4069080" cy="466344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229600" y="12801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전달용 패널 (Debug)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229600" y="1600200"/>
            <a:ext cx="3794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02168" y="1682496"/>
          <a:ext cx="3849624" cy="914400"/>
        </p:xfrm>
        <a:graphic>
          <a:graphicData uri="http://schemas.openxmlformats.org/drawingml/2006/table">
            <a:tbl>
              <a:tblPr/>
              <a:tblGrid>
                <a:gridCol w="384962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페이지 각각 독립 on/off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SP 전달 파라미터 텍스트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반환값(O_OUT_YN, O_OUT_MSG) 텍스트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버튼으로 클립보드 복사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유지보수팀 전달용 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localStorage에 표시 여부 저장: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loading_show_oracle_ref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location_show_oracle_ref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slitting_show_oracle_ref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411480" y="5943600"/>
            <a:ext cx="117500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4632" y="5943600"/>
            <a:ext cx="1165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전체 관리 키 목록</a:t>
            </a:r>
            <a:endParaRPr lang="en-US" sz="1100" dirty="0"/>
          </a:p>
        </p:txBody>
      </p:sp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309360"/>
          <a:ext cx="11750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35204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이름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isAuthenticated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로그인 상태 (true/false)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로그아웃 시 삭제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username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로그인 사용자명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로그인 시 저장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da_pda_last_username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마지막 아이디 (자동 채움)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종료 시 보존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darkMode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다크 모드 on/off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종료 시 보존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main_card_order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메인 메뉴 카드 순서 배열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종료 시 보존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pda_email_forward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이메일 전달 on/off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사용자 설정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loading_show_oracle_ref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상차등록 전달용 패널 표시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사용자 설정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location_show_oracle_ref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적재위치관리 전달용 패널 표시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사용자 설정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slitting_show_oracle_ref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슬리팅 투입 전달용 패널 표시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사용자 설정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192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DB 연동 현황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프로시저/함수 전체 목록 · Express 라우터 구성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07040" y="2011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011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API·DB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6217920"/>
            <a:ext cx="1202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2910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  |  완료 보고서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117500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207008"/>
            <a:ext cx="1165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API 엔드포인트 목록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27632"/>
          <a:ext cx="11750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Endpoint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프로시저/함수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/api/location/rack-types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적재대구분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SF_GET_PDA_WK('PDA')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/api/location/rack-numbers/:rackTypeCode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적재대번호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SF_GET_PDA_WK_DTL(:code)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/api/location/save-scan-data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적재위치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SP_PDA_LOAD_SCAN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/api/slitting/shifts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근무조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SF_GET_SHIFT('01','PR09')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/api/slitting/process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SF_GET_PRO_LIST('01')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/api/slitting/equipment/:processCode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작업장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SF_GET_WC_LIST('01',:code)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/api/slitting/retrieve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슬리팅 투입 조회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SP_PDA_PR09080_RET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/api/slitting/save-slitting-data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슬리팅 투입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SP_PDA_PR09080_IN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/api/loading/picking-sel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피킹 목록 조회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SP_PDA_PICKING_SEL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/api/loading/picking-save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피킹 임시/최종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SP_PDA_PICKING_SAVE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/api/email/send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발송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SF_GET_PDA_MAIL('A') + SMTP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/api/db/test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연결 상태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(health check)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11480" y="5257800"/>
            <a:ext cx="55778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" y="525780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구성 요약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5650992"/>
            <a:ext cx="5577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5760720"/>
          <a:ext cx="5358384" cy="914400"/>
        </p:xfrm>
        <a:graphic>
          <a:graphicData uri="http://schemas.openxmlformats.org/drawingml/2006/table">
            <a:tbl>
              <a:tblPr/>
              <a:tblGrid>
                <a:gridCol w="535838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포트: 5000 (0.0.0.0 바인딩, 전체 인터페이스)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CORS: 전체 origin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풀 초기화 실패해도 서버 시작 (이후 /api/db/test 확인)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Graceful Shutdown: SIGTERM/SIGINT → DB 풀 닫기 →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72200" y="5257800"/>
            <a:ext cx="59893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45352" y="5257800"/>
            <a:ext cx="5897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 연결 정보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5650992"/>
            <a:ext cx="5989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8">
                <a:alpha val="75000"/>
              </a:srgbClr>
            </a:outerShdw>
          </a:effectLst>
        </p:spPr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5760720"/>
          <a:ext cx="5769864" cy="914400"/>
        </p:xfrm>
        <a:graphic>
          <a:graphicData uri="http://schemas.openxmlformats.org/drawingml/2006/table">
            <a:tbl>
              <a:tblPr/>
              <a:tblGrid>
                <a:gridCol w="576986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Host: 172.17.1.56:1521/DAERP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Driver: oracledb (Node.js)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Connection Pool 방식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 파라미터: CURSOR, OUT_YN(Y/N/A), OUT_MSG 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C4F7A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보고서 요약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PDA 물류관리 시스템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03120"/>
            <a:ext cx="2286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메뉴 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5943600" cy="457200"/>
          </a:xfrm>
          <a:prstGeom prst="rect">
            <a:avLst/>
          </a:prstGeom>
          <a:solidFill>
            <a:srgbClr val="1D4464"/>
          </a:solidFill>
          <a:ln w="12700">
            <a:solidFill>
              <a:srgbClr val="1D44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10312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(로그인·메인·상차등록·적재위치관리·슬리팅 투입)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286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엔드포인트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2697480"/>
            <a:ext cx="5943600" cy="457200"/>
          </a:xfrm>
          <a:prstGeom prst="rect">
            <a:avLst/>
          </a:prstGeom>
          <a:solidFill>
            <a:srgbClr val="1D4464"/>
          </a:solidFill>
          <a:ln w="12700">
            <a:solidFill>
              <a:srgbClr val="1D44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69748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(GET 5 · POST 7)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2286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연동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3291840"/>
            <a:ext cx="5943600" cy="457200"/>
          </a:xfrm>
          <a:prstGeom prst="rect">
            <a:avLst/>
          </a:prstGeom>
          <a:solidFill>
            <a:srgbClr val="1D4464"/>
          </a:solidFill>
          <a:ln w="12700">
            <a:solidFill>
              <a:srgbClr val="1D44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29184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프로시저 4개 · 함수 6개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2286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3886200"/>
            <a:ext cx="5943600" cy="457200"/>
          </a:xfrm>
          <a:prstGeom prst="rect">
            <a:avLst/>
          </a:prstGeom>
          <a:solidFill>
            <a:srgbClr val="1D4464"/>
          </a:solidFill>
          <a:ln w="12700">
            <a:solidFill>
              <a:srgbClr val="1D44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88620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 · 이메일 전달 · 전달용 패널 · localStorage 관리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2286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PDA 최적화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88920" y="4480560"/>
            <a:ext cx="5943600" cy="457200"/>
          </a:xfrm>
          <a:prstGeom prst="rect">
            <a:avLst/>
          </a:prstGeom>
          <a:solidFill>
            <a:srgbClr val="1D4464"/>
          </a:solidFill>
          <a:ln w="12700">
            <a:solidFill>
              <a:srgbClr val="1D44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448056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바코드 탭 블로커 · 자동 포커스 · Pointer Events 드래그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2286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88920" y="5074920"/>
            <a:ext cx="5943600" cy="457200"/>
          </a:xfrm>
          <a:prstGeom prst="rect">
            <a:avLst/>
          </a:prstGeom>
          <a:solidFill>
            <a:srgbClr val="1D4464"/>
          </a:solidFill>
          <a:ln w="12700">
            <a:solidFill>
              <a:srgbClr val="1D44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507492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Express · TypeScript · Oracle DB · Nodemailer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760720"/>
            <a:ext cx="11686032" cy="0"/>
          </a:xfrm>
          <a:prstGeom prst="line">
            <a:avLst/>
          </a:prstGeom>
          <a:noFill/>
          <a:ln w="12700">
            <a:solidFill>
              <a:srgbClr val="2C4F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870448"/>
            <a:ext cx="1168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동아스틸  |  PDA 물류관리 시스템  |  프로젝트 완료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2026-03-13T01:51:32Z</dcterms:created>
  <dcterms:modified xsi:type="dcterms:W3CDTF">2026-03-13T01:51:32Z</dcterms:modified>
</cp:coreProperties>
</file>